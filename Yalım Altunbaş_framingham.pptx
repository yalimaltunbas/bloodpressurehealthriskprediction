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353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7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8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7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16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5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95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0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24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48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28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80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84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72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52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91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2924" y="1309254"/>
            <a:ext cx="4230299" cy="1044288"/>
          </a:xfrm>
        </p:spPr>
        <p:txBody>
          <a:bodyPr/>
          <a:lstStyle/>
          <a:p>
            <a:r>
              <a:rPr sz="2400" dirty="0"/>
              <a:t>Kalp </a:t>
            </a:r>
            <a:r>
              <a:rPr sz="2400" dirty="0" err="1"/>
              <a:t>Hastalığı</a:t>
            </a:r>
            <a:r>
              <a:rPr sz="2400" dirty="0"/>
              <a:t> </a:t>
            </a:r>
            <a:r>
              <a:rPr sz="2400" dirty="0" err="1"/>
              <a:t>Riski</a:t>
            </a:r>
            <a:r>
              <a:rPr sz="2400" dirty="0"/>
              <a:t> </a:t>
            </a:r>
            <a:r>
              <a:rPr sz="2400" dirty="0" err="1"/>
              <a:t>Tahmini</a:t>
            </a:r>
            <a:r>
              <a:rPr sz="2400" dirty="0"/>
              <a:t> (Framingham Study)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006" y="3359021"/>
            <a:ext cx="6620968" cy="861420"/>
          </a:xfrm>
        </p:spPr>
        <p:txBody>
          <a:bodyPr>
            <a:noAutofit/>
          </a:bodyPr>
          <a:lstStyle/>
          <a:p>
            <a:r>
              <a:rPr sz="1600" b="1" dirty="0" err="1"/>
              <a:t>Makine</a:t>
            </a:r>
            <a:r>
              <a:rPr sz="1600" b="1" dirty="0"/>
              <a:t> </a:t>
            </a:r>
            <a:r>
              <a:rPr sz="1600" b="1" dirty="0" err="1"/>
              <a:t>Öğrenmesi</a:t>
            </a:r>
            <a:r>
              <a:rPr sz="1600" b="1" dirty="0"/>
              <a:t> </a:t>
            </a:r>
            <a:r>
              <a:rPr sz="1600" b="1" dirty="0" err="1"/>
              <a:t>ile</a:t>
            </a:r>
            <a:r>
              <a:rPr sz="1600" b="1" dirty="0"/>
              <a:t> </a:t>
            </a:r>
            <a:r>
              <a:rPr sz="1600" b="1" dirty="0" err="1"/>
              <a:t>Dengesiz</a:t>
            </a:r>
            <a:r>
              <a:rPr sz="1600" b="1" dirty="0"/>
              <a:t> Veri </a:t>
            </a:r>
            <a:r>
              <a:rPr sz="1600" b="1" dirty="0" err="1"/>
              <a:t>Analizi</a:t>
            </a:r>
            <a:endParaRPr sz="1600" b="1" dirty="0"/>
          </a:p>
          <a:p>
            <a:r>
              <a:rPr sz="1600" b="1" dirty="0"/>
              <a:t>(RF, </a:t>
            </a:r>
            <a:r>
              <a:rPr sz="1600" b="1" dirty="0" err="1"/>
              <a:t>XGBoost</a:t>
            </a:r>
            <a:r>
              <a:rPr sz="1600" b="1" dirty="0"/>
              <a:t>, MLP </a:t>
            </a:r>
            <a:r>
              <a:rPr sz="1600" b="1" dirty="0" err="1"/>
              <a:t>Modelleri</a:t>
            </a:r>
            <a:r>
              <a:rPr sz="1600" b="1" dirty="0"/>
              <a:t>)</a:t>
            </a:r>
          </a:p>
          <a:p>
            <a:endParaRPr sz="1600" b="1" dirty="0"/>
          </a:p>
          <a:p>
            <a:r>
              <a:rPr lang="tr-TR" sz="1600" b="1" dirty="0"/>
              <a:t>YALIM ALTUNBAŞ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Tanımı ve Veri Seti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Veri Seti: Framingham Heart Study</a:t>
            </a:r>
          </a:p>
          <a:p>
            <a:pPr lvl="1">
              <a:defRPr sz="1800" b="0"/>
            </a:pPr>
            <a:r>
              <a:t>Amaç: Hastaların 10 yıl içinde koroner kalp hastalığı (CHD) geliştirme riskini tahmin etmek.</a:t>
            </a:r>
          </a:p>
          <a:p>
            <a:pPr>
              <a:defRPr sz="1800" b="1"/>
            </a:pPr>
            <a:r>
              <a:t>Temel Zorluk: Sınıf Dengesizliği (Class Imbalance)</a:t>
            </a:r>
          </a:p>
          <a:p>
            <a:pPr lvl="1">
              <a:defRPr sz="1800" b="0"/>
            </a:pPr>
            <a:r>
              <a:t>Veri setinde sağlıklı bireyler çoğunlukta, hasta bireyler azınlıktadır.</a:t>
            </a:r>
          </a:p>
          <a:p>
            <a:pPr lvl="1">
              <a:defRPr sz="1800" b="0"/>
            </a:pPr>
            <a:r>
              <a:t>Bu durum, modellerin 'herkese sağlıklı deme' eğilimine (Bias) girmesine neden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799"/>
            <a:ext cx="2331469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2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2. Hedef Değişken Dağılımı</a:t>
            </a: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2891" y="3072385"/>
            <a:ext cx="2331043" cy="2947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Grafikte görüldüğü üzere, pozitif vakalar (Sınıf 1) toplam verinin küçük bir kısmını oluşturmaktadır. Bu dengesizliği aşmak için SMOTE uygulanacaktır.</a:t>
            </a:r>
          </a:p>
        </p:txBody>
      </p:sp>
      <p:pic>
        <p:nvPicPr>
          <p:cNvPr id="3" name="Picture 2" descr="1_Hedef_Degisken_Dagilim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338" y="2107807"/>
            <a:ext cx="4871885" cy="3251985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799"/>
            <a:ext cx="2331469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3. Değişkenler Arası İlişkiler (Korelasyon)</a:t>
            </a:r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2891" y="3072385"/>
            <a:ext cx="2331043" cy="2947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Önemli Bulgular: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 Systolic BP ve Diastolic BP arasında güçlü pozitif korelasyon vardır.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 Glukoz ve Diyabet değişkenleri beklendiği gibi ilişkilidir.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 Çoklu bağlantı (Multicollinearity) sorunu yaratacak düzeyde kritik bir çakışma gözlenmemiştir.</a:t>
            </a:r>
          </a:p>
        </p:txBody>
      </p:sp>
      <p:pic>
        <p:nvPicPr>
          <p:cNvPr id="3" name="Picture 2" descr="2_Korelasyon_Matris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338" y="1644978"/>
            <a:ext cx="4871885" cy="4177642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Metodoloji: Veri İşleme Stratejisi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1. Veri Temizleme:</a:t>
            </a:r>
          </a:p>
          <a:p>
            <a:pPr lvl="1">
              <a:defRPr sz="1800" b="0"/>
            </a:pPr>
            <a:r>
              <a:t>Eksik veriler (NaN) veri setinden çıkarıldı.</a:t>
            </a:r>
          </a:p>
          <a:p>
            <a:pPr>
              <a:defRPr sz="1800" b="1"/>
            </a:pPr>
            <a:r>
              <a:t>2. Ölçekleme (Standard Scaling):</a:t>
            </a:r>
          </a:p>
          <a:p>
            <a:pPr lvl="1">
              <a:defRPr sz="1800" b="0"/>
            </a:pPr>
            <a:r>
              <a:t>Özellikle Neural Network modelinin performansını artırmak için tüm sayısal veriler (Ortalama=0, Varyans=1) formatına getirildi.</a:t>
            </a:r>
          </a:p>
          <a:p>
            <a:pPr>
              <a:defRPr sz="1800" b="1"/>
            </a:pPr>
            <a:r>
              <a:t>3. Deney Tasarımı (3 Farklı Senaryo):</a:t>
            </a:r>
          </a:p>
          <a:p>
            <a:pPr lvl="1">
              <a:defRPr sz="1800" b="0"/>
            </a:pPr>
            <a:r>
              <a:t>Senaryo A: Standart Split (%70 Train - %30 Test)</a:t>
            </a:r>
          </a:p>
          <a:p>
            <a:pPr lvl="1">
              <a:defRPr sz="1800" b="0"/>
            </a:pPr>
            <a:r>
              <a:t>Senaryo B: 5-Fold Stratified Cross Validation</a:t>
            </a:r>
          </a:p>
          <a:p>
            <a:pPr lvl="1">
              <a:defRPr sz="1800" b="0"/>
            </a:pPr>
            <a:r>
              <a:t>Senaryo C: SMOTE + 5-Fold Stratified CV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Dengesiz Veri Çözümü: SMOTE &amp;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Neden SMOTE (Synthetic Minority Over-sampling Technique)?</a:t>
            </a:r>
          </a:p>
          <a:p>
            <a:pPr lvl="1">
              <a:defRPr sz="1800" b="0"/>
            </a:pPr>
            <a:r>
              <a:t>Azınlık sınıfını kopyalamak yerine, özellik uzayında komşuluk ilişkilerine bakarak (KNN mantığı) 'sentetik' yeni veri noktaları üretir.</a:t>
            </a:r>
          </a:p>
          <a:p>
            <a:pPr lvl="1">
              <a:defRPr sz="1800" b="0"/>
            </a:pPr>
            <a:r>
              <a:t>Bu yöntem, modelin ezberlemesini (overfitting) engelleyerek genelleme yeteneğini artırır.</a:t>
            </a:r>
          </a:p>
          <a:p>
            <a:pPr>
              <a:defRPr sz="1800" b="1"/>
            </a:pPr>
            <a:r>
              <a:t>Neden Stratified K-Fold?</a:t>
            </a:r>
          </a:p>
          <a:p>
            <a:pPr lvl="1">
              <a:defRPr sz="1800" b="0"/>
            </a:pPr>
            <a:r>
              <a:t>Her katmanda (fold) sınıf oranlarının (0 ve 1) korunmasını sağlar. Böylece eğitim sırasında veri dağılımı bozulmaz.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Performans Metriklerinin Seçimi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 b="1"/>
            </a:pPr>
            <a:r>
              <a:t>Accuracy (Doğruluk) Neden Yetersiz?</a:t>
            </a:r>
          </a:p>
          <a:p>
            <a:pPr lvl="1">
              <a:defRPr sz="1800" b="0"/>
            </a:pPr>
            <a:r>
              <a:t>Dengesiz veride model sadece '0' tahmin etse bile %85 doğruluk alabilir. Bu yanıltıcıdır.</a:t>
            </a:r>
          </a:p>
          <a:p>
            <a:pPr>
              <a:defRPr sz="1800" b="1"/>
            </a:pPr>
            <a:r>
              <a:t>Kritik Metrik: Recall (Duyarlılık)</a:t>
            </a:r>
          </a:p>
          <a:p>
            <a:pPr lvl="1">
              <a:defRPr sz="1800" b="0"/>
            </a:pPr>
            <a:r>
              <a:t>Recall = TP / (TP + FN)</a:t>
            </a:r>
          </a:p>
          <a:p>
            <a:pPr lvl="1">
              <a:defRPr sz="1800" b="0"/>
            </a:pPr>
            <a:r>
              <a:t>Tıbbi tanıda 'Yanlış Negatif' (Hasta birine sağlıklı demek) en büyük risktir. Amacımız Recall değerini maksimize etmektir.</a:t>
            </a:r>
          </a:p>
          <a:p>
            <a:pPr>
              <a:defRPr sz="1800" b="1"/>
            </a:pPr>
            <a:r>
              <a:t>F1-Score:</a:t>
            </a:r>
          </a:p>
          <a:p>
            <a:pPr lvl="1">
              <a:defRPr sz="1800" b="0"/>
            </a:pPr>
            <a:r>
              <a:t>Precision ve Recall'un harmonik ortalamasıdır. Dengeyi ölçer.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Kullanılan Makine Öğrenmesi Modelleri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1. Random Forest (Bagging):</a:t>
            </a:r>
          </a:p>
          <a:p>
            <a:pPr lvl="1">
              <a:defRPr sz="1800" b="0"/>
            </a:pPr>
            <a:r>
              <a:t>Çok sayıda karar ağacının oylama mantığıyla çalışır. Varyansı düşürür, kararlıdır.</a:t>
            </a:r>
          </a:p>
          <a:p>
            <a:pPr>
              <a:defRPr sz="1800" b="1"/>
            </a:pPr>
            <a:r>
              <a:t>2. XGBoost (Boosting):</a:t>
            </a:r>
          </a:p>
          <a:p>
            <a:pPr lvl="1">
              <a:defRPr sz="1800" b="0"/>
            </a:pPr>
            <a:r>
              <a:t>Hatalardan ders çıkararak (gradient descent) ardışık ağaçlar kurar. Tabular verilerde genelde en yüksek performansı verir.</a:t>
            </a:r>
          </a:p>
          <a:p>
            <a:pPr>
              <a:defRPr sz="1800" b="1"/>
            </a:pPr>
            <a:r>
              <a:t>3. Neural Network (MLP):</a:t>
            </a:r>
          </a:p>
          <a:p>
            <a:pPr lvl="1">
              <a:defRPr sz="1800" b="0"/>
            </a:pPr>
            <a:r>
              <a:t>İnsan beyninden esinlenen katmanlı yapı. Değişkenler arasındaki karmaşık ve doğrusal olmayan ilişkileri yakalar.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3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8. Model Analizi: Neural Network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5" name="Picture 2" descr="4_Tum_Senaryolar_Matrix.png"/>
          <p:cNvPicPr>
            <a:picLocks noChangeAspect="1"/>
          </p:cNvPicPr>
          <p:nvPr/>
        </p:nvPicPr>
        <p:blipFill>
          <a:blip r:embed="rId6"/>
          <a:srcRect l="8874" t="7662" r="66000"/>
          <a:stretch>
            <a:fillRect/>
          </a:stretch>
        </p:blipFill>
        <p:spPr>
          <a:xfrm>
            <a:off x="4777844" y="49343"/>
            <a:ext cx="2155329" cy="6593935"/>
          </a:xfrm>
          <a:prstGeom prst="rect">
            <a:avLst/>
          </a:prstGeom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6698" y="2438400"/>
            <a:ext cx="312488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Analiz: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Non-linear ilişkileri yakalamada başarılı oldu. SMOTE ile Recall değeri ciddi oranda arttı.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9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9. Model Analizi: Random Forest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3" name="Picture 2" descr="4_Tum_Senaryolar_Matrix.png"/>
          <p:cNvPicPr>
            <a:picLocks noChangeAspect="1"/>
          </p:cNvPicPr>
          <p:nvPr/>
        </p:nvPicPr>
        <p:blipFill>
          <a:blip r:embed="rId6"/>
          <a:srcRect l="33000" t="7184" r="38882"/>
          <a:stretch>
            <a:fillRect/>
          </a:stretch>
        </p:blipFill>
        <p:spPr>
          <a:xfrm>
            <a:off x="4978883" y="272144"/>
            <a:ext cx="2160880" cy="5938155"/>
          </a:xfrm>
          <a:prstGeom prst="rect">
            <a:avLst/>
          </a:prstGeom>
          <a:effectLst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6698" y="2438400"/>
            <a:ext cx="312488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Analiz: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Standart eğitimde '1' sınıfını yakalamakta zorlandı. Ensemble yapısı gürültüye karşı dirençli.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10. Model Analizi: XGBoost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pic>
        <p:nvPicPr>
          <p:cNvPr id="3" name="Picture 2" descr="4_Tum_Senaryolar_Matrix.png"/>
          <p:cNvPicPr>
            <a:picLocks noChangeAspect="1"/>
          </p:cNvPicPr>
          <p:nvPr/>
        </p:nvPicPr>
        <p:blipFill>
          <a:blip r:embed="rId6"/>
          <a:srcRect l="66000" t="8876" r="7113"/>
          <a:stretch>
            <a:fillRect/>
          </a:stretch>
        </p:blipFill>
        <p:spPr>
          <a:xfrm>
            <a:off x="4976732" y="552907"/>
            <a:ext cx="2038699" cy="5752185"/>
          </a:xfrm>
          <a:prstGeom prst="rect">
            <a:avLst/>
          </a:prstGeom>
          <a:effectLst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6698" y="2438400"/>
            <a:ext cx="312488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Analiz: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Hızlı ve güçlü. Ancak bu veri setinde Neural Network ile başa baş bir performans sergiledi.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32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33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687" y="4542503"/>
            <a:ext cx="6888454" cy="11798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600"/>
              <a:t>11. Model Performans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687" y="5722373"/>
            <a:ext cx="6888453" cy="5233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4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Yorum: Tüm modellerde 'SMOTE + K-Fold' senaryosu (koyu renkli barlar) F1 skorunu artırmıştır.</a:t>
            </a:r>
          </a:p>
        </p:txBody>
      </p:sp>
      <p:pic>
        <p:nvPicPr>
          <p:cNvPr id="3" name="Picture 2" descr="3_F1_Score_Karsilastirma.png"/>
          <p:cNvPicPr>
            <a:picLocks noChangeAspect="1"/>
          </p:cNvPicPr>
          <p:nvPr/>
        </p:nvPicPr>
        <p:blipFill>
          <a:blip r:embed="rId7"/>
          <a:srcRect l="4384" r="2" b="2"/>
          <a:stretch>
            <a:fillRect/>
          </a:stretch>
        </p:blipFill>
        <p:spPr>
          <a:xfrm>
            <a:off x="476593" y="640080"/>
            <a:ext cx="6889547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3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53" name="Picture 3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55" name="Picture 3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56" name="Picture 3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57" name="Rectangle 4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58" name="Rectangle 43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799"/>
            <a:ext cx="2331469" cy="14447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12. Hata Matrisi (Confusion Matrix) Genel Bakış</a:t>
            </a:r>
          </a:p>
        </p:txBody>
      </p:sp>
      <p:sp>
        <p:nvSpPr>
          <p:cNvPr id="59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Freeform: Shape 47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1" name="Rectangle 49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" name="TextBox 3"/>
          <p:cNvSpPr txBox="1"/>
          <p:nvPr/>
        </p:nvSpPr>
        <p:spPr>
          <a:xfrm>
            <a:off x="482891" y="3072385"/>
            <a:ext cx="2331043" cy="2947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Alt satırlara indikçe (SMOTE uygulandıkça) sağ alt köşedeki (True Positive) sayıların arttığı açıkça görülmektedir.</a:t>
            </a:r>
          </a:p>
        </p:txBody>
      </p:sp>
      <p:pic>
        <p:nvPicPr>
          <p:cNvPr id="3" name="Picture 2" descr="4_Tum_Senaryolar_Matrix.png"/>
          <p:cNvPicPr>
            <a:picLocks noChangeAspect="1"/>
          </p:cNvPicPr>
          <p:nvPr/>
        </p:nvPicPr>
        <p:blipFill>
          <a:blip r:embed="rId6"/>
          <a:srcRect t="7356" r="9562"/>
          <a:stretch>
            <a:fillRect/>
          </a:stretch>
        </p:blipFill>
        <p:spPr>
          <a:xfrm>
            <a:off x="3473909" y="1250843"/>
            <a:ext cx="5553133" cy="4735721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2330AA-E11E-458E-8798-12C7F7738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A6BDC1B0-0C91-4230-BFEB-9C8ED19B9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1836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68E0A26E-4EA8-4E6C-97A2-7B6C1C13F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503868" y="1217868"/>
            <a:ext cx="6858001" cy="4422264"/>
          </a:xfrm>
          <a:custGeom>
            <a:avLst/>
            <a:gdLst>
              <a:gd name="connsiteX0" fmla="*/ 6858001 w 6858001"/>
              <a:gd name="connsiteY0" fmla="*/ 1177 h 5896352"/>
              <a:gd name="connsiteX1" fmla="*/ 6858001 w 6858001"/>
              <a:gd name="connsiteY1" fmla="*/ 1344715 h 5896352"/>
              <a:gd name="connsiteX2" fmla="*/ 6858000 w 6858001"/>
              <a:gd name="connsiteY2" fmla="*/ 1344715 h 5896352"/>
              <a:gd name="connsiteX3" fmla="*/ 6858000 w 6858001"/>
              <a:gd name="connsiteY3" fmla="*/ 5896352 h 5896352"/>
              <a:gd name="connsiteX4" fmla="*/ 0 w 6858001"/>
              <a:gd name="connsiteY4" fmla="*/ 5896351 h 5896352"/>
              <a:gd name="connsiteX5" fmla="*/ 0 w 6858001"/>
              <a:gd name="connsiteY5" fmla="*/ 904459 h 5896352"/>
              <a:gd name="connsiteX6" fmla="*/ 1 w 6858001"/>
              <a:gd name="connsiteY6" fmla="*/ 904459 h 5896352"/>
              <a:gd name="connsiteX7" fmla="*/ 1 w 6858001"/>
              <a:gd name="connsiteY7" fmla="*/ 0 h 5896352"/>
              <a:gd name="connsiteX8" fmla="*/ 40463 w 6858001"/>
              <a:gd name="connsiteY8" fmla="*/ 5883 h 5896352"/>
              <a:gd name="connsiteX9" fmla="*/ 159107 w 6858001"/>
              <a:gd name="connsiteY9" fmla="*/ 23196 h 5896352"/>
              <a:gd name="connsiteX10" fmla="*/ 245518 w 6858001"/>
              <a:gd name="connsiteY10" fmla="*/ 35299 h 5896352"/>
              <a:gd name="connsiteX11" fmla="*/ 348388 w 6858001"/>
              <a:gd name="connsiteY11" fmla="*/ 48073 h 5896352"/>
              <a:gd name="connsiteX12" fmla="*/ 470460 w 6858001"/>
              <a:gd name="connsiteY12" fmla="*/ 63369 h 5896352"/>
              <a:gd name="connsiteX13" fmla="*/ 605563 w 6858001"/>
              <a:gd name="connsiteY13" fmla="*/ 79506 h 5896352"/>
              <a:gd name="connsiteX14" fmla="*/ 757810 w 6858001"/>
              <a:gd name="connsiteY14" fmla="*/ 96483 h 5896352"/>
              <a:gd name="connsiteX15" fmla="*/ 923774 w 6858001"/>
              <a:gd name="connsiteY15" fmla="*/ 114469 h 5896352"/>
              <a:gd name="connsiteX16" fmla="*/ 1104139 w 6858001"/>
              <a:gd name="connsiteY16" fmla="*/ 132454 h 5896352"/>
              <a:gd name="connsiteX17" fmla="*/ 1296163 w 6858001"/>
              <a:gd name="connsiteY17" fmla="*/ 150776 h 5896352"/>
              <a:gd name="connsiteX18" fmla="*/ 1503275 w 6858001"/>
              <a:gd name="connsiteY18" fmla="*/ 167753 h 5896352"/>
              <a:gd name="connsiteX19" fmla="*/ 1719988 w 6858001"/>
              <a:gd name="connsiteY19" fmla="*/ 184058 h 5896352"/>
              <a:gd name="connsiteX20" fmla="*/ 1949045 w 6858001"/>
              <a:gd name="connsiteY20" fmla="*/ 198849 h 5896352"/>
              <a:gd name="connsiteX21" fmla="*/ 2187703 w 6858001"/>
              <a:gd name="connsiteY21" fmla="*/ 212969 h 5896352"/>
              <a:gd name="connsiteX22" fmla="*/ 2436649 w 6858001"/>
              <a:gd name="connsiteY22" fmla="*/ 226248 h 5896352"/>
              <a:gd name="connsiteX23" fmla="*/ 2564208 w 6858001"/>
              <a:gd name="connsiteY23" fmla="*/ 230955 h 5896352"/>
              <a:gd name="connsiteX24" fmla="*/ 2694509 w 6858001"/>
              <a:gd name="connsiteY24" fmla="*/ 236165 h 5896352"/>
              <a:gd name="connsiteX25" fmla="*/ 2826868 w 6858001"/>
              <a:gd name="connsiteY25" fmla="*/ 241040 h 5896352"/>
              <a:gd name="connsiteX26" fmla="*/ 2959914 w 6858001"/>
              <a:gd name="connsiteY26" fmla="*/ 244234 h 5896352"/>
              <a:gd name="connsiteX27" fmla="*/ 3095702 w 6858001"/>
              <a:gd name="connsiteY27" fmla="*/ 247091 h 5896352"/>
              <a:gd name="connsiteX28" fmla="*/ 3232862 w 6858001"/>
              <a:gd name="connsiteY28" fmla="*/ 250117 h 5896352"/>
              <a:gd name="connsiteX29" fmla="*/ 3372765 w 6858001"/>
              <a:gd name="connsiteY29" fmla="*/ 252134 h 5896352"/>
              <a:gd name="connsiteX30" fmla="*/ 3514040 w 6858001"/>
              <a:gd name="connsiteY30" fmla="*/ 252134 h 5896352"/>
              <a:gd name="connsiteX31" fmla="*/ 3656686 w 6858001"/>
              <a:gd name="connsiteY31" fmla="*/ 253142 h 5896352"/>
              <a:gd name="connsiteX32" fmla="*/ 3800704 w 6858001"/>
              <a:gd name="connsiteY32" fmla="*/ 252134 h 5896352"/>
              <a:gd name="connsiteX33" fmla="*/ 3946780 w 6858001"/>
              <a:gd name="connsiteY33" fmla="*/ 250117 h 5896352"/>
              <a:gd name="connsiteX34" fmla="*/ 4092855 w 6858001"/>
              <a:gd name="connsiteY34" fmla="*/ 248268 h 5896352"/>
              <a:gd name="connsiteX35" fmla="*/ 4240988 w 6858001"/>
              <a:gd name="connsiteY35" fmla="*/ 244234 h 5896352"/>
              <a:gd name="connsiteX36" fmla="*/ 4390492 w 6858001"/>
              <a:gd name="connsiteY36" fmla="*/ 240032 h 5896352"/>
              <a:gd name="connsiteX37" fmla="*/ 4539997 w 6858001"/>
              <a:gd name="connsiteY37" fmla="*/ 235157 h 5896352"/>
              <a:gd name="connsiteX38" fmla="*/ 4690873 w 6858001"/>
              <a:gd name="connsiteY38" fmla="*/ 228266 h 5896352"/>
              <a:gd name="connsiteX39" fmla="*/ 4843120 w 6858001"/>
              <a:gd name="connsiteY39" fmla="*/ 220029 h 5896352"/>
              <a:gd name="connsiteX40" fmla="*/ 4996054 w 6858001"/>
              <a:gd name="connsiteY40" fmla="*/ 212129 h 5896352"/>
              <a:gd name="connsiteX41" fmla="*/ 5148987 w 6858001"/>
              <a:gd name="connsiteY41" fmla="*/ 202044 h 5896352"/>
              <a:gd name="connsiteX42" fmla="*/ 5303978 w 6858001"/>
              <a:gd name="connsiteY42" fmla="*/ 189941 h 5896352"/>
              <a:gd name="connsiteX43" fmla="*/ 5456911 w 6858001"/>
              <a:gd name="connsiteY43" fmla="*/ 177839 h 5896352"/>
              <a:gd name="connsiteX44" fmla="*/ 5612588 w 6858001"/>
              <a:gd name="connsiteY44" fmla="*/ 163887 h 5896352"/>
              <a:gd name="connsiteX45" fmla="*/ 5768950 w 6858001"/>
              <a:gd name="connsiteY45" fmla="*/ 148591 h 5896352"/>
              <a:gd name="connsiteX46" fmla="*/ 5923255 w 6858001"/>
              <a:gd name="connsiteY46" fmla="*/ 132455 h 5896352"/>
              <a:gd name="connsiteX47" fmla="*/ 6079618 w 6858001"/>
              <a:gd name="connsiteY47" fmla="*/ 113629 h 5896352"/>
              <a:gd name="connsiteX48" fmla="*/ 6235294 w 6858001"/>
              <a:gd name="connsiteY48" fmla="*/ 93458 h 5896352"/>
              <a:gd name="connsiteX49" fmla="*/ 6391657 w 6858001"/>
              <a:gd name="connsiteY49" fmla="*/ 73455 h 5896352"/>
              <a:gd name="connsiteX50" fmla="*/ 6547333 w 6858001"/>
              <a:gd name="connsiteY50" fmla="*/ 50091 h 5896352"/>
              <a:gd name="connsiteX51" fmla="*/ 6702324 w 6858001"/>
              <a:gd name="connsiteY51" fmla="*/ 26222 h 589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896352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896352"/>
                </a:lnTo>
                <a:lnTo>
                  <a:pt x="0" y="5896351"/>
                </a:lnTo>
                <a:lnTo>
                  <a:pt x="0" y="904459"/>
                </a:lnTo>
                <a:lnTo>
                  <a:pt x="1" y="904459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841CC0-B7A9-4828-B82F-9C6B433BD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8E05919-D800-40FD-A3BD-4B9CC407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571309" cy="6858000"/>
            <a:chOff x="0" y="0"/>
            <a:chExt cx="11428412" cy="6858000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DE70C79C-8688-4786-8FCD-43A4B5D5B7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3"/>
            <a:stretch/>
          </p:blipFill>
          <p:spPr>
            <a:xfrm>
              <a:off x="0" y="2669685"/>
              <a:ext cx="4037012" cy="4188315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A6338A0-2BDA-4E79-A762-AAD8608C0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40"/>
            <a:stretch/>
          </p:blipFill>
          <p:spPr>
            <a:xfrm>
              <a:off x="0" y="2892347"/>
              <a:ext cx="1522412" cy="2365453"/>
            </a:xfrm>
            <a:prstGeom prst="rect">
              <a:avLst/>
            </a:prstGeom>
          </p:spPr>
        </p:pic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685624D-3645-4129-9FF6-0C59DBF23B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tx2">
                    <a:alpha val="7000"/>
                    <a:lumMod val="60000"/>
                    <a:lumOff val="40000"/>
                  </a:schemeClr>
                </a:gs>
                <a:gs pos="69000">
                  <a:schemeClr val="tx2">
                    <a:alpha val="0"/>
                    <a:lumMod val="60000"/>
                    <a:lumOff val="40000"/>
                  </a:schemeClr>
                </a:gs>
                <a:gs pos="36000">
                  <a:schemeClr val="tx2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tr-TR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3F24C1B-E4C1-43E7-84B3-DD476F383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3"/>
            <a:stretch/>
          </p:blipFill>
          <p:spPr>
            <a:xfrm>
              <a:off x="7999412" y="0"/>
              <a:ext cx="1603387" cy="1141407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725CE5D-088A-4522-9817-4B485D6E7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320"/>
            <a:stretch/>
          </p:blipFill>
          <p:spPr>
            <a:xfrm>
              <a:off x="8605878" y="6096000"/>
              <a:ext cx="993734" cy="762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447800"/>
            <a:ext cx="3564299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45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13. Şampiyon Model ve Özellik Önemi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6217" y="4777380"/>
            <a:ext cx="356429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defRPr sz="2000" b="1">
                <a:solidFill>
                  <a:srgbClr val="006400"/>
                </a:solidFill>
              </a:defRPr>
            </a:pPr>
            <a:r>
              <a:rPr lang="en-US" sz="2000" cap="all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Kazanan Model Analizi</a:t>
            </a:r>
          </a:p>
        </p:txBody>
      </p:sp>
      <p:pic>
        <p:nvPicPr>
          <p:cNvPr id="4" name="Picture 3" descr="5_Feature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150" y="1739513"/>
            <a:ext cx="4593816" cy="275628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Sonuç ve Çıkarımlar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 b="1"/>
            </a:pPr>
            <a:r>
              <a:t>Teknik Çıkarımlar:</a:t>
            </a:r>
          </a:p>
          <a:p>
            <a:pPr lvl="1">
              <a:defRPr sz="1800" b="0"/>
            </a:pPr>
            <a:r>
              <a:t>Dengesiz veri setlerinde SMOTE kullanımı, modelin 'hasta' bireyleri tespit etme yeteneğini (Recall) %40-%60 oranında artırmıştır.</a:t>
            </a:r>
          </a:p>
          <a:p>
            <a:pPr lvl="1">
              <a:defRPr sz="1800" b="0"/>
            </a:pPr>
            <a:r>
              <a:t>Sadece Accuracy metriğine güvenilmemesi gerektiği kanıtlanmıştır.</a:t>
            </a:r>
          </a:p>
          <a:p>
            <a:pPr>
              <a:defRPr sz="1800" b="1"/>
            </a:pPr>
            <a:r>
              <a:t>Klinik/Sektörel Çıkarımlar:</a:t>
            </a:r>
          </a:p>
          <a:p>
            <a:pPr lvl="1">
              <a:defRPr sz="1800" b="0"/>
            </a:pPr>
            <a:r>
              <a:t>Feature Importance analizine göre yaş, sistolik tansiyon ve glukoz seviyesi kalp hastalığı riskinde en belirleyici faktörlerdir.</a:t>
            </a:r>
          </a:p>
          <a:p>
            <a:pPr lvl="1">
              <a:defRPr sz="1800" b="0"/>
            </a:pPr>
            <a:r>
              <a:t>Geliştirilen model, erken teşhis için bir karar destek sistemi olarak kullanılabilir.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3C3E01-68FD-FE8A-1955-72B8CF1B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0" y="2941341"/>
            <a:ext cx="7055380" cy="1400530"/>
          </a:xfrm>
        </p:spPr>
        <p:txBody>
          <a:bodyPr/>
          <a:lstStyle/>
          <a:p>
            <a:pPr algn="ctr"/>
            <a:r>
              <a:rPr lang="tr-TR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2653360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</TotalTime>
  <Words>686</Words>
  <Application>Microsoft Office PowerPoint</Application>
  <PresentationFormat>Ekran Gösterisi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İyon</vt:lpstr>
      <vt:lpstr>Kalp Hastalığı Riski Tahmini (Framingham Study)</vt:lpstr>
      <vt:lpstr>1. Problem Tanımı ve Veri Seti</vt:lpstr>
      <vt:lpstr>2. Hedef Değişken Dağılımı</vt:lpstr>
      <vt:lpstr>3. Değişkenler Arası İlişkiler (Korelasyon)</vt:lpstr>
      <vt:lpstr>4. Metodoloji: Veri İşleme Stratejisi</vt:lpstr>
      <vt:lpstr>5. Dengesiz Veri Çözümü: SMOTE &amp; K-Fold</vt:lpstr>
      <vt:lpstr>6. Performans Metriklerinin Seçimi</vt:lpstr>
      <vt:lpstr>7. Kullanılan Makine Öğrenmesi Modelleri</vt:lpstr>
      <vt:lpstr>8. Model Analizi: Neural Network</vt:lpstr>
      <vt:lpstr>9. Model Analizi: Random Forest</vt:lpstr>
      <vt:lpstr>10. Model Analizi: XGBoost</vt:lpstr>
      <vt:lpstr>11. Model Performans Karşılaştırması</vt:lpstr>
      <vt:lpstr>12. Hata Matrisi (Confusion Matrix) Genel Bakış</vt:lpstr>
      <vt:lpstr>13. Şampiyon Model ve Özellik Önemi</vt:lpstr>
      <vt:lpstr>14. Sonuç ve Çıkarımlar</vt:lpstr>
      <vt:lpstr>TEŞEKKÜRLER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Yalım Altunbaş</cp:lastModifiedBy>
  <cp:revision>3</cp:revision>
  <dcterms:created xsi:type="dcterms:W3CDTF">2013-01-27T09:14:16Z</dcterms:created>
  <dcterms:modified xsi:type="dcterms:W3CDTF">2025-11-29T17:26:20Z</dcterms:modified>
  <cp:category/>
</cp:coreProperties>
</file>